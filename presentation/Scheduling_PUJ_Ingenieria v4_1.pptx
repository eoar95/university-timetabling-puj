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68" r:id="rId14"/>
    <p:sldId id="269" r:id="rId15"/>
    <p:sldId id="279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ES" sz="1800" b="0" i="0" u="none" strike="noStrike">
                <a:solidFill>
                  <a:srgbClr val="000000"/>
                </a:solidFill>
                <a:latin typeface="Arial"/>
              </a:rPr>
              <a:t>Valor f_obj (menor = mejor)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Gurobi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603</c:v>
                </c:pt>
                <c:pt idx="1">
                  <c:v>3587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C-4267-970C-34D7790A3F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1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521</c:v>
                </c:pt>
                <c:pt idx="1">
                  <c:v>2641</c:v>
                </c:pt>
                <c:pt idx="2">
                  <c:v>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DC-4267-970C-34D7790A3F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GRASP (mejor α)</c:v>
                </c:pt>
              </c:strCache>
            </c:strRef>
          </c:tx>
          <c:spPr>
            <a:solidFill>
              <a:srgbClr val="E07B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486</c:v>
                </c:pt>
                <c:pt idx="1">
                  <c:v>3045</c:v>
                </c:pt>
                <c:pt idx="2">
                  <c:v>8774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DC-4267-970C-34D7790A3F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Tiempo (segundos) — escala lineal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Gurobi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120.1</c:v>
                </c:pt>
                <c:pt idx="1">
                  <c:v>300.2</c:v>
                </c:pt>
                <c:pt idx="2">
                  <c:v>600.4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7-4AA0-9A7F-1764A99E42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GRASP (mejor α)</c:v>
                </c:pt>
              </c:strCache>
            </c:strRef>
          </c:tx>
          <c:spPr>
            <a:solidFill>
              <a:srgbClr val="E07B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120.4</c:v>
                </c:pt>
                <c:pt idx="1">
                  <c:v>313.39999999999998</c:v>
                </c:pt>
                <c:pt idx="2">
                  <c:v>608.29999999999995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17-4AA0-9A7F-1764A99E42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1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Piloto</c:v>
                </c:pt>
                <c:pt idx="1">
                  <c:v>Mediana</c:v>
                </c:pt>
                <c:pt idx="2">
                  <c:v>Completa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0.22</c:v>
                </c:pt>
                <c:pt idx="1">
                  <c:v>0.85</c:v>
                </c:pt>
                <c:pt idx="2">
                  <c:v>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17-4AA0-9A7F-1764A99E42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1E3A5F"/>
                </a:solidFill>
                <a:latin typeface="Arial"/>
              </a:rPr>
              <a:t>Contribución por componente — valores ponderados (×w)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6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 Desp. (w=1)</c:v>
                </c:pt>
                <c:pt idx="1">
                  <c:v>S2 Huecos (w=2)</c:v>
                </c:pt>
                <c:pt idx="2">
                  <c:v>S3 Exceso (w=3)</c:v>
                </c:pt>
                <c:pt idx="3">
                  <c:v>S4 Conc. (w=4)</c:v>
                </c:pt>
                <c:pt idx="4">
                  <c:v>S5 Cont. (w=5)</c:v>
                </c:pt>
                <c:pt idx="5">
                  <c:v>S6 Salón (w=6)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5223</c:v>
                </c:pt>
                <c:pt idx="1">
                  <c:v>34</c:v>
                </c:pt>
                <c:pt idx="2">
                  <c:v>159</c:v>
                </c:pt>
                <c:pt idx="3">
                  <c:v>1132</c:v>
                </c:pt>
                <c:pt idx="4">
                  <c:v>0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7-4874-95A5-BC9B866B2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GRASP α=0.1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6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 Desp. (w=1)</c:v>
                </c:pt>
                <c:pt idx="1">
                  <c:v>S2 Huecos (w=2)</c:v>
                </c:pt>
                <c:pt idx="2">
                  <c:v>S3 Exceso (w=3)</c:v>
                </c:pt>
                <c:pt idx="3">
                  <c:v>S4 Conc. (w=4)</c:v>
                </c:pt>
                <c:pt idx="4">
                  <c:v>S5 Cont. (w=5)</c:v>
                </c:pt>
                <c:pt idx="5">
                  <c:v>S6 Salón (w=6)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5059</c:v>
                </c:pt>
                <c:pt idx="1">
                  <c:v>290</c:v>
                </c:pt>
                <c:pt idx="2">
                  <c:v>45</c:v>
                </c:pt>
                <c:pt idx="3">
                  <c:v>3120</c:v>
                </c:pt>
                <c:pt idx="4">
                  <c:v>50</c:v>
                </c:pt>
                <c:pt idx="5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67-4874-95A5-BC9B866B29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85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64CD-2F62-0480-9C86-777A248D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36D25-F13F-4685-471B-351AF1A36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E9059-3B95-59E7-2149-996773AB6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06191-925E-C6AA-AB3B-6C71E7AFA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87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140F-1127-13EB-6EF7-484F54EB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96CD3-B1E8-2B8A-A7E8-9392377EE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8C24B-369A-EDAC-3204-C8433BBCD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03AAE-63D3-0EF7-A8FE-A1604FB73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38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102B-049F-CB74-B219-558A62BFC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8FF7-6992-04AC-D23B-EBDF9C8FC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5B897-5E2E-A74D-CDD3-223B5894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0E3A-AE2D-F844-DD7B-4C5CE6594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D231C-02B0-21CA-D265-42B0C65E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877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F9C6-8B54-74F7-9E44-4480A2E2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17E2-49C1-E4C8-30EF-5F99B6D91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500A-9F71-72B8-79FD-DDE88CDE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2256D-6154-F8A2-9B1F-02781403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3494D-55C3-848D-BA55-D392052D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601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F91E-D9C7-6A80-7538-EC3A7557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D168D-F485-5500-3B12-553C63594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10D4B-FA77-E408-0870-0A8CE443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BC960-0B08-F981-78CF-78BAF24A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090D7-8B50-1BDF-FE24-DBDE09BA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103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2F9E-77D4-A77B-99AF-C19E06EF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F74A5-F97A-706C-C3C2-3B82C6654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E3027-AC38-00EF-B174-31D0AD9A1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8EED5-15C5-7870-86DE-C6EC7B0F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10D9E-148D-98E3-FF58-9B9F891F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A5817-CFE2-3E23-2E85-C697197F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75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5512-3633-5CDD-9681-A76B7EFD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CD614-B7FB-502C-41B8-DD9DD1E61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11437-0B11-EE83-A30B-04E57A80A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F879F-9176-0DD4-22A7-E89585248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A81316-8875-BD6D-E302-BA2DA770A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EA50D-73FF-3E9F-3DB8-E5725FCA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E00-21C6-229C-6E31-25BBCC07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3505C-9BB4-9B5E-C2A4-8395C23C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480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CA59-C5E5-F77A-8CB8-467D8AD1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06E09-109C-32D1-E34A-0A2414CE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6A31F-278E-9051-B464-E96A6812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26B4D-790E-502B-C306-75D5FA71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83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D2311-51DA-C057-AA32-6B6EFE0D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069CE-0EBB-43A8-D8E2-714657A4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E3BE6-81F2-676D-2F68-F0AADD38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09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BCF6-3615-1EE4-23A2-E7A459BF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FEE9E-4506-D2F9-7141-5ADC8BF79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F461F-BF2A-3CCC-55B3-3E66385CE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204C1-233F-1BE3-44F8-752D53DE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945FA-73EF-63E9-57AC-6D89307E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DBD65-8FF8-C831-A4B1-E43D6877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523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E123-C5D4-5DE3-61ED-99A8F71E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67C7B-6E80-DFDF-F02D-1DCE8E2C7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D5642-AF1E-C321-1ED6-0F16E0CAC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01FF8-A2BB-59FB-4026-50E8F24E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1FC8B-CCFB-17B3-1891-8BFE517E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36B92-AD9D-DF28-EEE8-B2EBADC5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325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6D00-3C11-1DDF-34F9-6DFDF499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3A99F-50A4-E581-6ADF-C31A84FA2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8DEC-E591-69AD-FEE6-9A67A638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A859-75BF-3213-AF4B-45293CF5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5BA3-65F3-596D-454B-D7E6C901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056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B55F2-B406-0D86-2D6D-89FD24F87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C2D9-75E5-5547-6037-1A93DB53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EB22-963C-1DC8-179F-DDA7DBB6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FC52-C7F8-5472-BAB2-FE3096F7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E6CF-A094-0489-574C-116F0E16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61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97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353AD-D5E9-F27E-8902-5941D9B7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C5964-15EF-8769-3D98-8BC5BE340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D3F36-72FA-DE31-6A28-CBD493D0A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C592E-CF26-49A4-B81E-05072376B93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63A9A-B05F-4E42-FDC0-C24B7691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D397-30EE-92FD-ECE9-83DFEF0D1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55DEA-EFEB-4EAF-B557-E938FB69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1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Horarios Académicos en Ingeniería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método exacto, heurística constructiva y metaheurística GRASP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7772400" cy="2743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 Bogotá  |  Maestría BI&amp;A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458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Optimización Avanzada  |  Junio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8009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Ayala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332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en Ingeniería PUJ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0332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literatura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UCTP, CB-CTT, benchmarks ITC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16712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167128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7157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formulación MIP y tres métodos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16712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167128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331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27157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ejecuciones: piloto, mediana y completa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46557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465576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63016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0142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Greedy supera a GRASP y a Gurobi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46557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3465576"/>
            <a:ext cx="502920" cy="11430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363016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40142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calidad, tiempo y escalabilidad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6052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NP-hard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secciones · 71 salones · 8 carreras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160520" cy="32004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enfoques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64608" y="1828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(exacto) · Greedy · GRASP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16052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gana en escala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" y="3749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f_obj en mediana y completa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41605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objetivo 6 criterios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64608" y="3749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S1–S6 · pesos 1–6 · análisis comparativo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programar horarios es más complejo de lo que parece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0099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un mes antes de iniciar semestre?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académica debe asignar cada clase a un salón y un horario sin que: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</a:t>
            </a: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grupo tenga dos clases al </a:t>
            </a:r>
            <a:r>
              <a:rPr lang="en-US" sz="16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salón sea usado por dos clases a la vez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Asignaturas</a:t>
            </a: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cómputo vayan a aulas sin  software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sean asignados a clases teóricas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6360" y="919094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66360" y="111556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919094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11556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919094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112495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63840" y="17924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785110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299008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3657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semanales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785110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98246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7960" y="36499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horarias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salón/semana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2785110"/>
            <a:ext cx="118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298246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63840" y="36499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 y alcance del caso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EBF4F8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73152" cy="13716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8755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efectivos son Gurobi, Greedy y GRASP para resolver scheduling académico real considerando salones, capacidad, software, disponibilidad horaria, carga semanal por créditos y concentración temporal de bloques?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41241"/>
              </p:ext>
            </p:extLst>
          </p:nvPr>
        </p:nvGraphicFramePr>
        <p:xfrm>
          <a:off x="365760" y="2423160"/>
          <a:ext cx="841248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carreras de Ingeniería PUJ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por carrera-semestre → 128 grupos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 horario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Lunes a viernes, 7:00–17:00 (10 períodos/día)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Créditos → bloques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crédito = 1 bloque semanal de 1 hora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Profesores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Extensión fuera del alcance principal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Reales (planes de estudio PUJ) + supuestos documentados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literatura: el problema tiene nombre propio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UCTP / CB-CTT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Course Timetabling Problem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variante CB-CTT (Curriculum-Based), los conflictos se derivan del currículo por semestre — 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más cercana al caso Javeriana.</a:t>
            </a: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</a:t>
            </a: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</a:t>
            </a: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el espacio de soluciones crece exponencialmente.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internacionales: ITC-2007, ITC-2019
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Metaheurísticas son el enfoque más popular, seguido de híbridos</a:t>
            </a: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[Chen et al., 2021]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969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difícil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secciones × 71 salones × 50 franjas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~2.8 millones de variables binarias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las variables de asignación x)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34747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35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clave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Babaei et al. (2015) —</a:t>
            </a:r>
            <a:r>
              <a:rPr lang="es-ES" sz="10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r>
              <a:rPr lang="es-E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UCTP: clasificación en 4 categorías de métodos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694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Bettinelli et al. (2015) — </a:t>
            </a:r>
            <a:r>
              <a:rPr lang="es-ES" sz="10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r>
              <a:rPr lang="es-E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CB-CTT: modelos exactos y heurísticos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Chen et al. (2021) — </a:t>
            </a:r>
            <a:r>
              <a:rPr lang="es-ES" sz="10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r>
              <a:rPr lang="es-E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metaheurísticas son el enfoque más popular, seguido de híbridos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4462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Ceschia et al. (2023) — </a:t>
            </a:r>
            <a:r>
              <a:rPr lang="es-E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ETT: 6 formulaciones estándar, </a:t>
            </a:r>
            <a:r>
              <a:rPr lang="es-ES" sz="10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r>
              <a:rPr lang="es-E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estado del arte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literatura para cada método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24912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(MIP)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Rappos et al. (2022)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69164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lugar ITC-2019 con MIP + Gurobi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6060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 &amp; Bornhardt (2020)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88036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multiobjetivo CB-CTT con balance de secciones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Müller et al. (2019)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406908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ITC-2019: benchmark 30 </a:t>
            </a:r>
            <a:r>
              <a:rPr lang="en-U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reales y student sectioning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27832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7832" y="914400"/>
            <a:ext cx="2724912" cy="38404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97840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Greedy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41732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Bettinelli et al. (2015)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69164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CB-CTT: modelos exactos y heurísticos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6060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Babaei et al. (2015)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88036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UCTP: clasificación en 4 categorías de métodos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9904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9904" y="914400"/>
            <a:ext cx="2724912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81344" y="97840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99632" y="141732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Feo &amp; Resende (1995)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9632" y="169164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canónica GRASP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26060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Resende &amp; Ribeiro (2003)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288036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GRASP: técnicas de implementación y </a:t>
            </a: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path-relinking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37947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Awad et al. (2022)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9632" y="406908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adaptativo con lista dinámica; competitivo en </a:t>
            </a:r>
            <a:r>
              <a:rPr lang="es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r>
              <a:rPr lang="es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ITC2002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combinación de información real y supuestos documentados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14317"/>
              </p:ext>
            </p:extLst>
          </p:nvPr>
        </p:nvGraphicFramePr>
        <p:xfrm>
          <a:off x="365760" y="914400"/>
          <a:ext cx="8412480" cy="3048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Carreras, créditos, asignaturas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Planes de estudio PUJ (Excel institucional)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Edificios y laboratorios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javeriana.edu.co / ingenieria.javeriana.edu.co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salón (aula/lab/sala cómputo)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por palabras clave en nombre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 de salón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Estándares universitarios Colombia (40–60 est.)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por asignatura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Inferido por carrera y semestre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Estudiantes por grupo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 10 (ref. Politécnico Grancolombiano)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2245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de cada dato es parte de la metodología — transparencia metodológica defendible.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Formulación: variable de decisión y restricciones duras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73152" cy="10241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78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decisión: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x[s, r, d, p] ∈ {0,1}  =  1 si la sección s se asigna al salón r el día d en el período 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548640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176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5237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sección recibe exactamente b_s bloques semanales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907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∑_{r,d,p} x[s,r,d,p] = b_s   ∀s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08483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548640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176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traslape de salón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1808" y="25237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salón alberga a lo sumo una clase por franja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21808" y="2907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∑_s x[s,r,d,p] ≤ 1   ∀r,d,p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021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502152"/>
            <a:ext cx="548640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3593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traslape de grupo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394106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no tiene dos clases simultáneas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325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∑_{s∈g} ∑_r x[s,r,d,p] ≤ 1   ∀g,d,p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5021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502152"/>
            <a:ext cx="548640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886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3593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(implícita)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394106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existen x[s,r,d,p] para pares (s,r) compatibles en tipo y software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4325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compat[s,r] = 1 → variable existe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objetivo: 6 criterios de calidad ponderados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f(x) = 1·S1 + 2·S2 + 3·S3 + 4·S4 + 5·S5 + 6·S6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94360" cy="1444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16733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Desperdicio de capacidad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" y="21945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Salón mucho más grande que el grupo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27832" y="15087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508760"/>
            <a:ext cx="594360" cy="1444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27832" y="17099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27832" y="21945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6733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en el día del grupo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1945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libres entre clases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9904" y="15087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1508760"/>
            <a:ext cx="594360" cy="1444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9904" y="17099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9904" y="21945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3992" y="16733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carga diaria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93992" y="21945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6 horas de clase en un día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594360" cy="144475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310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9848" y="32735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diaria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69848" y="3794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en más de un día a la semana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31089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27832" y="3108960"/>
            <a:ext cx="594360" cy="14447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27832" y="3310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27832" y="37947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2735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intra-clase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3794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no consecutivos del mismo curso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9904" y="310896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9904" y="3108960"/>
            <a:ext cx="59436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89904" y="3310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89904" y="37947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93992" y="3273552"/>
            <a:ext cx="198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salón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93992" y="3794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2+ salones para la misma clase en el día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597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peso = mayor impacto operativo   |   S6 (salón) &gt; S5 (continuidad) &gt; S4 (concentración)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métodos: enfoque exacto, heurístico y metaheurístico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24912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(MIP)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exacto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700784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 todas H1–H4 + S1–S6 en f(x)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auxiliares: y_dia, idle_sec, z_salon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limit: 120 / 300 / 600 s por instancia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127248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objetivo: 0% piloto, 0% mediana, 10% completa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602736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optimalidad si hay tiempo suficiente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7832" y="914400"/>
            <a:ext cx="2724912" cy="68580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987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9272" y="134416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constructiva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700784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score = créditos / salones_compatibles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TODAS las combinaciones (d,p,r)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651760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slot de mínimo costo incremental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069835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pasada determinística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9904" y="914400"/>
            <a:ext cx="2724912" cy="6858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987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81344" y="134416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9632" y="1700784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construcción con RCL, α ∈ {0.1, 0.2, 0.3}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21762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RCL: slots con costo ≤ c_min + α·(c_max−c_min)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9632" y="2651760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búsqueda local delta O(1), 3 pasadas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3127248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hasta agotar el time limit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3602736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la mejor solución encontrada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C445-D7F4-5BBA-2BFA-79F4094A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1CEC6C-0862-E013-DABF-BA7D2B365571}"/>
              </a:ext>
            </a:extLst>
          </p:cNvPr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187224-A4E0-3788-F0EB-F58753B6A491}"/>
              </a:ext>
            </a:extLst>
          </p:cNvPr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tabla comparativa completa (12 runs)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C2E7F7-4664-2532-0185-EF14A093286A}"/>
              </a:ext>
            </a:extLst>
          </p:cNvPr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A18111-59F0-CD8B-23B4-194A1D8332A1}"/>
              </a:ext>
            </a:extLst>
          </p:cNvPr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EDD53E-4921-A77E-E1AA-B01E26ED5667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841732"/>
          <a:ext cx="8366760" cy="3978000"/>
        </p:xfrm>
        <a:graphic>
          <a:graphicData uri="http://schemas.openxmlformats.org/drawingml/2006/table">
            <a:tbl>
              <a:tblPr/>
              <a:tblGrid>
                <a:gridCol w="817207">
                  <a:extLst>
                    <a:ext uri="{9D8B030D-6E8A-4147-A177-3AD203B41FA5}">
                      <a16:colId xmlns:a16="http://schemas.microsoft.com/office/drawing/2014/main" val="2000218380"/>
                    </a:ext>
                  </a:extLst>
                </a:gridCol>
                <a:gridCol w="981012">
                  <a:extLst>
                    <a:ext uri="{9D8B030D-6E8A-4147-A177-3AD203B41FA5}">
                      <a16:colId xmlns:a16="http://schemas.microsoft.com/office/drawing/2014/main" val="260789573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3868325"/>
                    </a:ext>
                  </a:extLst>
                </a:gridCol>
                <a:gridCol w="623730">
                  <a:extLst>
                    <a:ext uri="{9D8B030D-6E8A-4147-A177-3AD203B41FA5}">
                      <a16:colId xmlns:a16="http://schemas.microsoft.com/office/drawing/2014/main" val="238130912"/>
                    </a:ext>
                  </a:extLst>
                </a:gridCol>
                <a:gridCol w="545006">
                  <a:extLst>
                    <a:ext uri="{9D8B030D-6E8A-4147-A177-3AD203B41FA5}">
                      <a16:colId xmlns:a16="http://schemas.microsoft.com/office/drawing/2014/main" val="70750152"/>
                    </a:ext>
                  </a:extLst>
                </a:gridCol>
                <a:gridCol w="708509">
                  <a:extLst>
                    <a:ext uri="{9D8B030D-6E8A-4147-A177-3AD203B41FA5}">
                      <a16:colId xmlns:a16="http://schemas.microsoft.com/office/drawing/2014/main" val="1118415342"/>
                    </a:ext>
                  </a:extLst>
                </a:gridCol>
                <a:gridCol w="647952">
                  <a:extLst>
                    <a:ext uri="{9D8B030D-6E8A-4147-A177-3AD203B41FA5}">
                      <a16:colId xmlns:a16="http://schemas.microsoft.com/office/drawing/2014/main" val="4257146117"/>
                    </a:ext>
                  </a:extLst>
                </a:gridCol>
                <a:gridCol w="581341">
                  <a:extLst>
                    <a:ext uri="{9D8B030D-6E8A-4147-A177-3AD203B41FA5}">
                      <a16:colId xmlns:a16="http://schemas.microsoft.com/office/drawing/2014/main" val="812990881"/>
                    </a:ext>
                  </a:extLst>
                </a:gridCol>
                <a:gridCol w="526840">
                  <a:extLst>
                    <a:ext uri="{9D8B030D-6E8A-4147-A177-3AD203B41FA5}">
                      <a16:colId xmlns:a16="http://schemas.microsoft.com/office/drawing/2014/main" val="702403121"/>
                    </a:ext>
                  </a:extLst>
                </a:gridCol>
                <a:gridCol w="626303">
                  <a:extLst>
                    <a:ext uri="{9D8B030D-6E8A-4147-A177-3AD203B41FA5}">
                      <a16:colId xmlns:a16="http://schemas.microsoft.com/office/drawing/2014/main" val="1429412689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111751735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38250177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Instancia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Método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f_obj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S1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Gap%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Tiempo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Factible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54591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Piloto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 α=0.1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120.4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4715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Piloto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Greedy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521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0.22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5123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Piloto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GRASP α=0.3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449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122.5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26165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Piloto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Gurobi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83.91%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120.1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42988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Mediana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1,998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0.85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1522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Mediana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GRASP α=0.3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3,045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2,065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313.4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79882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Mediana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Gurobi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3,587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2,002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1,024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92.19%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300.2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1534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None/>
                      </a:pPr>
                      <a:r>
                        <a:rPr lang="en-US" sz="1300" b="1" kern="120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6,668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5,223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159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1,132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1.38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9522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GRASP α=0.1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8,774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5,059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3,120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608.3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1802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GRASP α=0.2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8,839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5,093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316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3,212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606.2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78525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GRASP α=0.3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8,902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5,087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3,228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180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627.5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62487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Completa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None/>
                      </a:pPr>
                      <a:r>
                        <a:rPr lang="en-US" sz="1300" kern="1200" dirty="0" err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Gurobi</a:t>
                      </a:r>
                      <a:endParaRPr lang="en-US" sz="1300" kern="1200" dirty="0">
                        <a:solidFill>
                          <a:srgbClr val="DC262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None/>
                      </a:pPr>
                      <a:r>
                        <a:rPr lang="en-US" sz="1300" b="1" kern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r>
                        <a:rPr lang="en-US" sz="1300" b="1" kern="1200" dirty="0" err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factible</a:t>
                      </a:r>
                      <a:endParaRPr lang="en-US" sz="1300" b="1" kern="1200" dirty="0">
                        <a:solidFill>
                          <a:srgbClr val="DC262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600.4 s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</a:p>
                  </a:txBody>
                  <a:tcPr marL="31952" marR="31952" marT="15976" marB="15976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3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38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solución: f_obj por método e instancia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19543819"/>
              </p:ext>
            </p:extLst>
          </p:nvPr>
        </p:nvGraphicFramePr>
        <p:xfrm>
          <a:off x="365760" y="91440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914400"/>
            <a:ext cx="2331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1005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29400" y="1463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solución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3774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940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gana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 de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374904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9400" y="3858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gana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piloto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4297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−6.7% vs Greedy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computacional: el trade-off velocidad vs calidad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14400"/>
            <a:ext cx="2560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63640" y="1005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 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6364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— Completa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2246938"/>
            <a:ext cx="2560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233837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 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63640" y="288701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— Completa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591584"/>
            <a:ext cx="2560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63640" y="36830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440×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63640" y="4231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más rápido que GRASP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3D10-F2E1-74FF-982C-560D1BBA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51FDA1-0E61-B40C-360D-D1DB6FDE6EFE}"/>
              </a:ext>
            </a:extLst>
          </p:cNvPr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AE5AEA-BA3B-F8E6-F856-1DD1083C47B1}"/>
              </a:ext>
            </a:extLst>
          </p:cNvPr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22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</a:t>
            </a: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22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</a:t>
            </a: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2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2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0904D0-238A-D127-E368-DC9CA9768317}"/>
              </a:ext>
            </a:extLst>
          </p:cNvPr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86DD89-4290-418A-B95A-3D60D1D2365B}"/>
              </a:ext>
            </a:extLst>
          </p:cNvPr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A1C7D78B-9F48-1FB2-B06F-5062A80B2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719443"/>
              </p:ext>
            </p:extLst>
          </p:nvPr>
        </p:nvGraphicFramePr>
        <p:xfrm>
          <a:off x="347472" y="684277"/>
          <a:ext cx="6217920" cy="3816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82ED6C4D-B083-615C-8B8D-658580FEBB2C}"/>
              </a:ext>
            </a:extLst>
          </p:cNvPr>
          <p:cNvSpPr/>
          <p:nvPr/>
        </p:nvSpPr>
        <p:spPr>
          <a:xfrm>
            <a:off x="6766560" y="822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gana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S?</a:t>
            </a:r>
            <a:endParaRPr lang="en-US"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140F56-10BA-E6D7-109C-926419F1496E}"/>
              </a:ext>
            </a:extLst>
          </p:cNvPr>
          <p:cNvSpPr/>
          <p:nvPr/>
        </p:nvSpPr>
        <p:spPr>
          <a:xfrm>
            <a:off x="6748272" y="1408176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265B9A-A223-D6F9-0068-0E2BB8A9BC06}"/>
              </a:ext>
            </a:extLst>
          </p:cNvPr>
          <p:cNvSpPr/>
          <p:nvPr/>
        </p:nvSpPr>
        <p:spPr>
          <a:xfrm>
            <a:off x="6803136" y="141732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Desp.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D43ADE1-6A27-9CC1-59C2-2626CF45C053}"/>
              </a:ext>
            </a:extLst>
          </p:cNvPr>
          <p:cNvSpPr/>
          <p:nvPr/>
        </p:nvSpPr>
        <p:spPr>
          <a:xfrm>
            <a:off x="7589520" y="141732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9E9B91D-6CDC-EFC9-992D-89F84D41CF29}"/>
              </a:ext>
            </a:extLst>
          </p:cNvPr>
          <p:cNvSpPr/>
          <p:nvPr/>
        </p:nvSpPr>
        <p:spPr>
          <a:xfrm>
            <a:off x="758952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−164 pts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AE58F20-E1E7-2EF0-9555-78F51BC8DB3D}"/>
              </a:ext>
            </a:extLst>
          </p:cNvPr>
          <p:cNvSpPr/>
          <p:nvPr/>
        </p:nvSpPr>
        <p:spPr>
          <a:xfrm>
            <a:off x="6748272" y="1901952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BE7055B-43B9-26EA-3384-731732F196FE}"/>
              </a:ext>
            </a:extLst>
          </p:cNvPr>
          <p:cNvSpPr/>
          <p:nvPr/>
        </p:nvSpPr>
        <p:spPr>
          <a:xfrm>
            <a:off x="6803136" y="191109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Huecos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5AFEA9B-BD93-EE6E-A8AC-8477416947B6}"/>
              </a:ext>
            </a:extLst>
          </p:cNvPr>
          <p:cNvSpPr/>
          <p:nvPr/>
        </p:nvSpPr>
        <p:spPr>
          <a:xfrm>
            <a:off x="7589520" y="19110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053ED04-214D-46F8-3DB2-062C77F93963}"/>
              </a:ext>
            </a:extLst>
          </p:cNvPr>
          <p:cNvSpPr/>
          <p:nvPr/>
        </p:nvSpPr>
        <p:spPr>
          <a:xfrm>
            <a:off x="7589520" y="2121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−256 pts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24ECB7E-028B-1E44-BF2C-72706DB3EB61}"/>
              </a:ext>
            </a:extLst>
          </p:cNvPr>
          <p:cNvSpPr/>
          <p:nvPr/>
        </p:nvSpPr>
        <p:spPr>
          <a:xfrm>
            <a:off x="6748272" y="2395728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5B76333-15BF-217E-E646-46B92C4A5DD0}"/>
              </a:ext>
            </a:extLst>
          </p:cNvPr>
          <p:cNvSpPr/>
          <p:nvPr/>
        </p:nvSpPr>
        <p:spPr>
          <a:xfrm>
            <a:off x="6803136" y="240487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Exceso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798F27D-E764-C1DE-2E09-363CE7ECCD84}"/>
              </a:ext>
            </a:extLst>
          </p:cNvPr>
          <p:cNvSpPr/>
          <p:nvPr/>
        </p:nvSpPr>
        <p:spPr>
          <a:xfrm>
            <a:off x="7589520" y="240487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40A51A-AE70-F499-287E-663089816FD9}"/>
              </a:ext>
            </a:extLst>
          </p:cNvPr>
          <p:cNvSpPr/>
          <p:nvPr/>
        </p:nvSpPr>
        <p:spPr>
          <a:xfrm>
            <a:off x="758952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−114 pts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4F95B75F-86F4-9DBD-FA62-0EBA30AEE5C7}"/>
              </a:ext>
            </a:extLst>
          </p:cNvPr>
          <p:cNvSpPr/>
          <p:nvPr/>
        </p:nvSpPr>
        <p:spPr>
          <a:xfrm>
            <a:off x="6748272" y="2889504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B021DC5-5D3A-31F2-E2D0-CB77BA5E7BB6}"/>
              </a:ext>
            </a:extLst>
          </p:cNvPr>
          <p:cNvSpPr/>
          <p:nvPr/>
        </p:nvSpPr>
        <p:spPr>
          <a:xfrm>
            <a:off x="6803136" y="289864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Conc.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6343406-DD4B-07D3-490E-8EF83EBF222A}"/>
              </a:ext>
            </a:extLst>
          </p:cNvPr>
          <p:cNvSpPr/>
          <p:nvPr/>
        </p:nvSpPr>
        <p:spPr>
          <a:xfrm>
            <a:off x="7589520" y="2898648"/>
            <a:ext cx="10942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★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2A783CC-1058-6970-4429-496A0B860253}"/>
              </a:ext>
            </a:extLst>
          </p:cNvPr>
          <p:cNvSpPr/>
          <p:nvPr/>
        </p:nvSpPr>
        <p:spPr>
          <a:xfrm>
            <a:off x="7516849" y="3108960"/>
            <a:ext cx="14152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−1,988 pts (clave decisiva)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BAD6D94-DDA7-46AA-4A0C-3D7A889826C1}"/>
              </a:ext>
            </a:extLst>
          </p:cNvPr>
          <p:cNvSpPr/>
          <p:nvPr/>
        </p:nvSpPr>
        <p:spPr>
          <a:xfrm>
            <a:off x="6748272" y="3383280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DEF896B-9927-9912-B99F-49EDCD65F3FD}"/>
              </a:ext>
            </a:extLst>
          </p:cNvPr>
          <p:cNvSpPr/>
          <p:nvPr/>
        </p:nvSpPr>
        <p:spPr>
          <a:xfrm>
            <a:off x="6803136" y="339242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Cont.</a:t>
            </a:r>
            <a:endParaRPr lang="en-US" sz="1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3D68E50-5EA4-0CE6-0C9C-8C20A812BC54}"/>
              </a:ext>
            </a:extLst>
          </p:cNvPr>
          <p:cNvSpPr/>
          <p:nvPr/>
        </p:nvSpPr>
        <p:spPr>
          <a:xfrm>
            <a:off x="7589520" y="33924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D094D16-A24A-00BC-B31E-ACCF1EC6A233}"/>
              </a:ext>
            </a:extLst>
          </p:cNvPr>
          <p:cNvSpPr/>
          <p:nvPr/>
        </p:nvSpPr>
        <p:spPr>
          <a:xfrm>
            <a:off x="7589520" y="36027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vs 50 pts</a:t>
            </a:r>
            <a:endParaRPr lang="en-US" sz="11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B343AE1-1648-3AC4-D6CF-CAD97A9D4182}"/>
              </a:ext>
            </a:extLst>
          </p:cNvPr>
          <p:cNvSpPr/>
          <p:nvPr/>
        </p:nvSpPr>
        <p:spPr>
          <a:xfrm>
            <a:off x="6748272" y="3877056"/>
            <a:ext cx="2139696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ED8A2AA-40AF-B8E9-7075-53012A8F4A60}"/>
              </a:ext>
            </a:extLst>
          </p:cNvPr>
          <p:cNvSpPr/>
          <p:nvPr/>
        </p:nvSpPr>
        <p:spPr>
          <a:xfrm>
            <a:off x="6803136" y="388620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Salón</a:t>
            </a:r>
            <a:endParaRPr lang="en-US" sz="12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0536D36-3465-228D-C801-89E7092F637D}"/>
              </a:ext>
            </a:extLst>
          </p:cNvPr>
          <p:cNvSpPr/>
          <p:nvPr/>
        </p:nvSpPr>
        <p:spPr>
          <a:xfrm>
            <a:off x="7589520" y="388620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4C27A39-502E-80DB-22E2-FD34EAF4F983}"/>
              </a:ext>
            </a:extLst>
          </p:cNvPr>
          <p:cNvSpPr/>
          <p:nvPr/>
        </p:nvSpPr>
        <p:spPr>
          <a:xfrm>
            <a:off x="7589520" y="40965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 pts</a:t>
            </a:r>
            <a:endParaRPr lang="en-US" sz="1100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19AA2B8-14C8-C6D1-82B4-2D5768299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38412"/>
              </p:ext>
            </p:extLst>
          </p:nvPr>
        </p:nvGraphicFramePr>
        <p:xfrm>
          <a:off x="350089" y="4409937"/>
          <a:ext cx="6215302" cy="484632"/>
        </p:xfrm>
        <a:graphic>
          <a:graphicData uri="http://schemas.openxmlformats.org/drawingml/2006/table">
            <a:tbl>
              <a:tblPr/>
              <a:tblGrid>
                <a:gridCol w="2247776">
                  <a:extLst>
                    <a:ext uri="{9D8B030D-6E8A-4147-A177-3AD203B41FA5}">
                      <a16:colId xmlns:a16="http://schemas.microsoft.com/office/drawing/2014/main" val="1048737605"/>
                    </a:ext>
                  </a:extLst>
                </a:gridCol>
                <a:gridCol w="1019242">
                  <a:extLst>
                    <a:ext uri="{9D8B030D-6E8A-4147-A177-3AD203B41FA5}">
                      <a16:colId xmlns:a16="http://schemas.microsoft.com/office/drawing/2014/main" val="485097502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3273748834"/>
                    </a:ext>
                  </a:extLst>
                </a:gridCol>
                <a:gridCol w="1914668">
                  <a:extLst>
                    <a:ext uri="{9D8B030D-6E8A-4147-A177-3AD203B41FA5}">
                      <a16:colId xmlns:a16="http://schemas.microsoft.com/office/drawing/2014/main" val="71180635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f_obj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8,774</a:t>
                      </a:r>
                      <a:endParaRPr lang="en-US" sz="1300" dirty="0">
                        <a:solidFill>
                          <a:srgbClr val="7C3AE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mejor: −2,106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52644"/>
                  </a:ext>
                </a:extLst>
              </a:tr>
            </a:tbl>
          </a:graphicData>
        </a:graphic>
      </p:graphicFrame>
      <p:sp>
        <p:nvSpPr>
          <p:cNvPr id="34" name="Text 4">
            <a:extLst>
              <a:ext uri="{FF2B5EF4-FFF2-40B4-BE49-F238E27FC236}">
                <a16:creationId xmlns:a16="http://schemas.microsoft.com/office/drawing/2014/main" id="{BE45E81C-FF98-45FA-5768-C81006A6986A}"/>
              </a:ext>
            </a:extLst>
          </p:cNvPr>
          <p:cNvSpPr/>
          <p:nvPr/>
        </p:nvSpPr>
        <p:spPr>
          <a:xfrm>
            <a:off x="6752020" y="4383355"/>
            <a:ext cx="2135948" cy="533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S4 concentración explica el 94% de la brecha total (1,988 de 2,106 puntos)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467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¿por qué GRASP pierde en instancias grandes?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24912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50292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504" y="1005840"/>
            <a:ext cx="230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iteraciones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" y="157276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S5 y S6, cada iteración es más cara.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(sin S5/S6): ~100 iter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 (con S5/S6): 15–57 iter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exploración → menor calidad.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914400"/>
            <a:ext cx="2724912" cy="56692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914400"/>
            <a:ext cx="502920" cy="56692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27832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8576" y="1005840"/>
            <a:ext cx="230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aleatoriedad daña lo más pesado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55848" y="157276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RCL dispersa bloques en más días.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c_conc_raw: Greedy=283 vs GRASP=780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ponderada (×4) = 1,988 pts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explica el 94% de la brecha total.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914400"/>
            <a:ext cx="2724912" cy="5669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914400"/>
            <a:ext cx="502920" cy="5669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9904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0648" y="1005840"/>
            <a:ext cx="230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 insuficiente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57276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de 1 bloque a la vez no consolidan días.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dispersión requiere mover múltiples bloques coordinadamente.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s-E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menos aleatorios (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</a:t>
            </a:r>
            <a:r>
              <a:rPr lang="es-E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tienden a funcionar mejor cuando el problema tiene estructura fuerte [Resende &amp; Ribeiro, 2003]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rigor matemático vs escalabilidad con restricciones realistas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agregar S5 y S6 — Gurobi en Piloto: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86795"/>
              </p:ext>
            </p:extLst>
          </p:nvPr>
        </p:nvGraphicFramePr>
        <p:xfrm>
          <a:off x="365760" y="1371600"/>
          <a:ext cx="5029200" cy="21396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(S1–S4)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v4.1 (S1–S6)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f_obj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MIP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(OPTIMAL)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83.91% (TIME_LIMIT)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c_salon_raw (post-hoc/real)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TIME_LIMIT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840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+ S6 añadieron ~120,000 variables binarias adicionales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árbol Branch &amp; Bound inmanejable en el time limit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914400"/>
            <a:ext cx="3200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77840" y="914400"/>
            <a:ext cx="32004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87568" y="987552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87568" y="1544490"/>
            <a:ext cx="54864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33872" y="1417320"/>
            <a:ext cx="2834640" cy="6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NO está mal formulado — el modelo captura correctamente el problema con S6.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87568" y="2269229"/>
            <a:ext cx="54864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33872" y="2132775"/>
            <a:ext cx="2834640" cy="6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válida S6: en v3, el horario óptimo tenía c_salon_raw=130 (problema real invisible para el objetivo).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87568" y="2963691"/>
            <a:ext cx="54864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33872" y="2848230"/>
            <a:ext cx="2834640" cy="6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restricciones blandas realistas cambiaron cualitativamente la tractabilidad.</a:t>
            </a:r>
            <a:endParaRPr lang="en-US" sz="1200" dirty="0"/>
          </a:p>
        </p:txBody>
      </p:sp>
      <p:sp>
        <p:nvSpPr>
          <p:cNvPr id="7" name="Shape 15"/>
          <p:cNvSpPr/>
          <p:nvPr/>
        </p:nvSpPr>
        <p:spPr>
          <a:xfrm>
            <a:off x="5687568" y="3791376"/>
            <a:ext cx="54864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33872" y="3478898"/>
            <a:ext cx="2834640" cy="95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competitividad entre heurísticas y métodos MIP dependen del tamaño de la instancia, las restricciones incorporadas y el presupuesto computacional disponible.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Awad et al. (2022).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87568" y="4485831"/>
            <a:ext cx="54864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33872" y="4443452"/>
            <a:ext cx="2834640" cy="43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sigue siendo útil: establece cotas inferiores y diagnostica factibilidad.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extensiones propuestas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no incorporados como restricción (disponibilidad docente)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 salón basadas en estándares, no en datos oficiales PUJ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por asignatura inferido por carrera y semestre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 GRASP: solo movimientos de 1 bloque a la vez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mecanismo de reinicio o diversificación en GRASP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propuestas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14173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Gurobi desde solución Greedy (acelera convergencia)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938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 GRASP orientada a S4: swap multi-bloque entre días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4597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Reformulación por patrones: asignar sesiones completas consecutivas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9809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disponibilidad docente como H5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5021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coordinadores académicos de la Javeriana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= método más robusto en escala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f_obj en mediana y completa · 1.38 s para 784 secciones · c_cont_raw=0 siempre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75488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tiene valor en instancias pequeñas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59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−6.7% vs Greedy en piloto · Necesita más iteraciones y búsqueda local orientada a S4 para escalar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75488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rigor sin escalabilidad con restricciones realistas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Valioso como referencia y diagnóstico · No factible en completa bajo time limit con S5+S6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75488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 la función objetivo determina qué método gana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370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w6&gt;w5&gt;w4, el determinismo favorece concentración y estabilidad · Ventajas estructurales del Greedy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91032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programación académica real con tiempo limitado, un Greedy bien diseñado provee alta calidad casi instantáneamente.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(12)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Académico PUJ | Junio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343400" cy="43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Feo, T.A. &amp; Resende, M.G.C. (1995). Greedy Randomized Adaptive Search Procedures. Journal of Global Optimization, 6(2), 109–133.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0584"/>
            <a:ext cx="4343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Resende, M.G.C. &amp; Ribeiro, C.C. (2003). Greedy Randomized Adaptive Search Procedures. En Glover &amp;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Kochenberger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(Eds.), Handbook of Metaheuristics, Springer, pp. 219–249.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14768"/>
            <a:ext cx="4343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Gaspero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L., McCollum, B. &amp;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Schaerf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 (2007). The Second International Timetabling Competition (ITC-2007): CB-CTT (Track 3). PATAT.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85895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Babaei, H., Karimpour, J. &amp;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Hadidi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 (2015). A survey of approaches for university course timetabling problem. Computers &amp; Industrial Engineering, 86, 43–59.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77496"/>
            <a:ext cx="4343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Bettinelli, A.,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Cacchiani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V., Roberti, R. &amp; Toth, P. (2015). An overview of curriculum-based course timetabling. TOP, 23(2), 313–349. DOI: 10.1007/s11750-015-0366-z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221680"/>
            <a:ext cx="4343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Müller, T.,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Rudová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H. &amp; Müllerová, Z. (2025). Real-world university course timetabling at the International Timetabling Competition 2019. Journal of Scheduling, 28(2), 247–267. DOI: 10.1007/s10951-023-00801-w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914400"/>
            <a:ext cx="4160520" cy="43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Palma, C.D. &amp; Bornhardt, P. (2020). Section Balance in CB-CTT Integer Optimization. Mathematics, 8(10), 1763.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70584"/>
            <a:ext cx="416052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Chen, M.C., Sze, S.N., Goh, S.L., Sabar, N.R. &amp; Kendall, G. (2021). A Survey of University Course Timetabling Problem: Perspectives, Trends and Opportunities. IEEE Access, 9, 106515–106529. DOI: 10.1109/ACCESS.2021.3100613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114768"/>
            <a:ext cx="416052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Rappos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E.,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Thiémard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E., Robert, S. &amp;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Hêche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J.F. (2022). A mixed-integer programming approach for solving university course timetabling problems. Journal of Scheduling, 25, 391–404. DOI: 10.1007/s10951-021-00715-5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85895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Awad, F.H., Al-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Kubaisi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 &amp; Mahmood, M. (2022). Large-scale timetabling with adaptive tabu search. Journal of Intelligent Systems, 31(1), 168–176.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477496"/>
            <a:ext cx="416052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Abdipoor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S., Yaakob, R., Goh, S.L. &amp; Abdullah, S. (2023). Meta-heuristic approaches for the University Course Timetabling Problem. Intelligent Systems with Applications, 19, 200253. DOI: 10.1016/j.iswa.2023.200253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4221680"/>
            <a:ext cx="416052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Ceschia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S., Di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Gaspero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L. &amp;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Schaerf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 (2023). Educational Timetabling: Problems, Benchmarks, and State-of-the-Art Results. European Journal of Operational Research, 308(1), 1–18. DOI: 10.1016/j.ejor.2022.07.011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9144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2909</Words>
  <Application>Microsoft Office PowerPoint</Application>
  <PresentationFormat>On-screen Show (16:9)</PresentationFormat>
  <Paragraphs>552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Horarios Académicos — Ingeniería PUJ</dc:title>
  <dc:subject>PptxGenJS Presentation</dc:subject>
  <dc:creator>Edgar Ayala</dc:creator>
  <cp:lastModifiedBy>Edgar Orlando Ayala Rico</cp:lastModifiedBy>
  <cp:revision>11</cp:revision>
  <dcterms:created xsi:type="dcterms:W3CDTF">2026-06-04T19:57:15Z</dcterms:created>
  <dcterms:modified xsi:type="dcterms:W3CDTF">2026-06-06T02:50:42Z</dcterms:modified>
</cp:coreProperties>
</file>